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7" r:id="rId5"/>
    <p:sldId id="318" r:id="rId6"/>
    <p:sldId id="285" r:id="rId7"/>
    <p:sldId id="287" r:id="rId8"/>
    <p:sldId id="327" r:id="rId9"/>
    <p:sldId id="288" r:id="rId10"/>
    <p:sldId id="293" r:id="rId11"/>
    <p:sldId id="294" r:id="rId12"/>
    <p:sldId id="296" r:id="rId13"/>
    <p:sldId id="295" r:id="rId14"/>
    <p:sldId id="325" r:id="rId15"/>
    <p:sldId id="328" r:id="rId16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B4D92E-FC8C-80C6-B595-6AAE9DF10235}" v="125" dt="2024-08-27T14:21:54.826"/>
    <p1510:client id="{E40A1A36-4687-3BF1-AAFD-1EB303305394}" v="31" dt="2024-08-27T14:11:11.9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CD7E6-6072-4F04-BEBB-FEC4B2947D02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54793-3BE0-4575-B530-54F84038729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75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050" y="5803514"/>
            <a:ext cx="15462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950" y="2424113"/>
            <a:ext cx="3198813" cy="319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ZoneTexte 10"/>
          <p:cNvSpPr txBox="1">
            <a:spLocks noChangeArrowheads="1"/>
          </p:cNvSpPr>
          <p:nvPr/>
        </p:nvSpPr>
        <p:spPr bwMode="auto">
          <a:xfrm>
            <a:off x="7732713" y="4941888"/>
            <a:ext cx="293528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0" rIns="3600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fr-FR" altLang="fr-FR" sz="1400">
                <a:latin typeface="Segoe UI Semibold" panose="020B0702040204020203" pitchFamily="34" charset="0"/>
                <a:cs typeface="Segoe UI Semibold" panose="020B0702040204020203" pitchFamily="34" charset="0"/>
              </a:rPr>
              <a:t>AI &amp; BLOCKCHAIN</a:t>
            </a:r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519480" y="4003122"/>
            <a:ext cx="6731926" cy="86518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/>
          </p:nvPr>
        </p:nvSpPr>
        <p:spPr bwMode="gray">
          <a:xfrm>
            <a:off x="519480" y="5114128"/>
            <a:ext cx="6731926" cy="83315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465" y="5803513"/>
            <a:ext cx="744537" cy="74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10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/>
        </p:nvCxnSpPr>
        <p:spPr>
          <a:xfrm flipH="1">
            <a:off x="3886200" y="2101850"/>
            <a:ext cx="1588" cy="199390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1871663"/>
            <a:ext cx="2505075" cy="250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ce réservé du texte 14"/>
          <p:cNvSpPr>
            <a:spLocks noGrp="1"/>
          </p:cNvSpPr>
          <p:nvPr>
            <p:ph type="body" sz="quarter" idx="14"/>
          </p:nvPr>
        </p:nvSpPr>
        <p:spPr>
          <a:xfrm>
            <a:off x="4439816" y="2103019"/>
            <a:ext cx="6696744" cy="2041065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39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eur droit 20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503302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/>
          </p:nvPr>
        </p:nvSpPr>
        <p:spPr>
          <a:xfrm>
            <a:off x="503302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2" name="Espace réservé du texte 14"/>
          <p:cNvSpPr>
            <a:spLocks noGrp="1"/>
          </p:cNvSpPr>
          <p:nvPr>
            <p:ph type="body" sz="quarter" idx="13"/>
          </p:nvPr>
        </p:nvSpPr>
        <p:spPr>
          <a:xfrm>
            <a:off x="1705684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/>
          </p:nvPr>
        </p:nvSpPr>
        <p:spPr>
          <a:xfrm>
            <a:off x="1705683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/>
          </p:nvPr>
        </p:nvSpPr>
        <p:spPr>
          <a:xfrm>
            <a:off x="1705683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/>
          </p:nvPr>
        </p:nvSpPr>
        <p:spPr>
          <a:xfrm>
            <a:off x="1705684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/>
          </p:nvPr>
        </p:nvSpPr>
        <p:spPr>
          <a:xfrm>
            <a:off x="1705684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/>
          </p:nvPr>
        </p:nvSpPr>
        <p:spPr>
          <a:xfrm>
            <a:off x="1705683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/>
          </p:nvPr>
        </p:nvSpPr>
        <p:spPr>
          <a:xfrm>
            <a:off x="503302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6534808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6534808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/>
          </p:nvPr>
        </p:nvSpPr>
        <p:spPr>
          <a:xfrm>
            <a:off x="7737190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/>
          </p:nvPr>
        </p:nvSpPr>
        <p:spPr>
          <a:xfrm>
            <a:off x="7737189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/>
          </p:nvPr>
        </p:nvSpPr>
        <p:spPr>
          <a:xfrm>
            <a:off x="7737189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/>
          </p:nvPr>
        </p:nvSpPr>
        <p:spPr>
          <a:xfrm>
            <a:off x="7737190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/>
          </p:nvPr>
        </p:nvSpPr>
        <p:spPr>
          <a:xfrm>
            <a:off x="7737190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/>
          </p:nvPr>
        </p:nvSpPr>
        <p:spPr>
          <a:xfrm>
            <a:off x="7737189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6534808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numéro de diapositive 2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2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1978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9" t="7916"/>
          <a:stretch>
            <a:fillRect/>
          </a:stretch>
        </p:blipFill>
        <p:spPr bwMode="auto">
          <a:xfrm>
            <a:off x="173038" y="141288"/>
            <a:ext cx="4664075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409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6DFE4EEF-9FC5-4FAD-85B6-F4C7CC8C728F}" type="slidenum">
              <a:rPr lang="fr-F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/>
          </a:p>
        </p:txBody>
      </p:sp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9525"/>
            <a:ext cx="3876675" cy="387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7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4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Dig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F4FFB720-E276-4088-AD58-4114EB1992FB}" type="slidenum">
              <a:rPr lang="fr-F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/>
          </a:p>
        </p:txBody>
      </p:sp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330200"/>
            <a:ext cx="4183063" cy="351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00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Cy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5A1A390F-595E-40F0-8B83-6BAB164A4DA0}" type="slidenum">
              <a:rPr lang="fr-F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/>
          </a:p>
        </p:txBody>
      </p:sp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" y="117475"/>
            <a:ext cx="4002088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421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3DDC44AF-5EF8-4970-AD49-D7C0738966D5}" type="slidenum">
              <a:rPr lang="fr-F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/>
          </a:p>
        </p:txBody>
      </p:sp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913"/>
            <a:ext cx="4135438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493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39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pour une image  5"/>
          <p:cNvSpPr>
            <a:spLocks noGrp="1"/>
          </p:cNvSpPr>
          <p:nvPr>
            <p:ph type="pic" sz="quarter" idx="12"/>
          </p:nvPr>
        </p:nvSpPr>
        <p:spPr>
          <a:xfrm>
            <a:off x="6183923" y="1563976"/>
            <a:ext cx="6008077" cy="4450774"/>
          </a:xfrm>
          <a:ln w="19050">
            <a:noFill/>
          </a:ln>
        </p:spPr>
        <p:txBody>
          <a:bodyPr tIns="468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8" name="Espace réservé du texte 14"/>
          <p:cNvSpPr>
            <a:spLocks noGrp="1"/>
          </p:cNvSpPr>
          <p:nvPr>
            <p:ph type="body" sz="quarter" idx="13"/>
          </p:nvPr>
        </p:nvSpPr>
        <p:spPr>
          <a:xfrm>
            <a:off x="511908" y="1563976"/>
            <a:ext cx="5488843" cy="4450774"/>
          </a:xfrm>
          <a:ln w="19050">
            <a:noFill/>
          </a:ln>
        </p:spPr>
        <p:txBody>
          <a:bodyPr tIns="46800"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numéro de diapositive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u pied de page 3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2587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/>
          </p:nvPr>
        </p:nvSpPr>
        <p:spPr>
          <a:xfrm>
            <a:off x="511908" y="1563976"/>
            <a:ext cx="5488843" cy="4450774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183313" y="1563688"/>
            <a:ext cx="5481306" cy="445135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2026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565275" y="1697038"/>
            <a:ext cx="2052638" cy="2117725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4810125" y="1697038"/>
            <a:ext cx="2052638" cy="2117725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8112125" y="1701800"/>
            <a:ext cx="2052638" cy="2117725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cxnSp>
        <p:nvCxnSpPr>
          <p:cNvPr id="15" name="Connecteur droit 14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7" name="Espace réservé du texte 11"/>
          <p:cNvSpPr>
            <a:spLocks noGrp="1"/>
          </p:cNvSpPr>
          <p:nvPr>
            <p:ph type="body" sz="quarter" idx="17"/>
          </p:nvPr>
        </p:nvSpPr>
        <p:spPr>
          <a:xfrm>
            <a:off x="1199209" y="459395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8" name="Espace réservé pour une image  7"/>
          <p:cNvSpPr>
            <a:spLocks noGrp="1"/>
          </p:cNvSpPr>
          <p:nvPr>
            <p:ph type="pic" sz="quarter" idx="12"/>
          </p:nvPr>
        </p:nvSpPr>
        <p:spPr>
          <a:xfrm>
            <a:off x="1782319" y="1556792"/>
            <a:ext cx="1980000" cy="2090172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22" name="Espace réservé pour une image  7"/>
          <p:cNvSpPr>
            <a:spLocks noGrp="1"/>
          </p:cNvSpPr>
          <p:nvPr>
            <p:ph type="pic" sz="quarter" idx="18"/>
          </p:nvPr>
        </p:nvSpPr>
        <p:spPr>
          <a:xfrm>
            <a:off x="5031273" y="1553644"/>
            <a:ext cx="1980000" cy="2080215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26" name="Espace réservé pour une image  7"/>
          <p:cNvSpPr>
            <a:spLocks noGrp="1"/>
          </p:cNvSpPr>
          <p:nvPr>
            <p:ph type="pic" sz="quarter" idx="19"/>
          </p:nvPr>
        </p:nvSpPr>
        <p:spPr>
          <a:xfrm>
            <a:off x="8328247" y="1553644"/>
            <a:ext cx="1980000" cy="2080216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30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4445198" y="460087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7746603" y="460087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1198563" y="4264025"/>
            <a:ext cx="2784475" cy="33020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3"/>
          </p:nvPr>
        </p:nvSpPr>
        <p:spPr>
          <a:xfrm>
            <a:off x="4445000" y="4248150"/>
            <a:ext cx="2784475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24"/>
          </p:nvPr>
        </p:nvSpPr>
        <p:spPr>
          <a:xfrm>
            <a:off x="7747000" y="4248150"/>
            <a:ext cx="2782888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6" name="Espace réservé du numéro de diapositive 2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8588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/>
          <p:cNvSpPr/>
          <p:nvPr/>
        </p:nvSpPr>
        <p:spPr>
          <a:xfrm>
            <a:off x="1557338" y="1771650"/>
            <a:ext cx="1876425" cy="18732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" name="Ellipse 12"/>
          <p:cNvSpPr/>
          <p:nvPr/>
        </p:nvSpPr>
        <p:spPr>
          <a:xfrm>
            <a:off x="5157788" y="1771650"/>
            <a:ext cx="1876425" cy="18732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" name="Ellipse 13"/>
          <p:cNvSpPr/>
          <p:nvPr/>
        </p:nvSpPr>
        <p:spPr>
          <a:xfrm>
            <a:off x="8758238" y="1771650"/>
            <a:ext cx="1876425" cy="18732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cxnSp>
        <p:nvCxnSpPr>
          <p:cNvPr id="15" name="Connecteur droit 14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9"/>
          <p:cNvSpPr>
            <a:spLocks noGrp="1"/>
          </p:cNvSpPr>
          <p:nvPr>
            <p:ph type="pic" sz="quarter" idx="17"/>
          </p:nvPr>
        </p:nvSpPr>
        <p:spPr>
          <a:xfrm>
            <a:off x="17001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16" name="Espace réservé pour une image  9"/>
          <p:cNvSpPr>
            <a:spLocks noGrp="1"/>
          </p:cNvSpPr>
          <p:nvPr>
            <p:ph type="pic" sz="quarter" idx="23"/>
          </p:nvPr>
        </p:nvSpPr>
        <p:spPr>
          <a:xfrm>
            <a:off x="53005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18" name="Espace réservé pour une image  9"/>
          <p:cNvSpPr>
            <a:spLocks noGrp="1"/>
          </p:cNvSpPr>
          <p:nvPr>
            <p:ph type="pic" sz="quarter" idx="24"/>
          </p:nvPr>
        </p:nvSpPr>
        <p:spPr>
          <a:xfrm>
            <a:off x="89009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22" name="Espace réservé du texte 11"/>
          <p:cNvSpPr>
            <a:spLocks noGrp="1"/>
          </p:cNvSpPr>
          <p:nvPr>
            <p:ph type="body" sz="quarter" idx="25"/>
          </p:nvPr>
        </p:nvSpPr>
        <p:spPr>
          <a:xfrm>
            <a:off x="983020" y="425707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4604389" y="426399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8233057" y="426399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982339" y="3927141"/>
            <a:ext cx="3062923" cy="33020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contenu 7"/>
          <p:cNvSpPr>
            <a:spLocks noGrp="1"/>
          </p:cNvSpPr>
          <p:nvPr>
            <p:ph sz="quarter" idx="26"/>
          </p:nvPr>
        </p:nvSpPr>
        <p:spPr>
          <a:xfrm>
            <a:off x="4604156" y="3911266"/>
            <a:ext cx="3062923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contenu 9"/>
          <p:cNvSpPr>
            <a:spLocks noGrp="1"/>
          </p:cNvSpPr>
          <p:nvPr>
            <p:ph sz="quarter" idx="27"/>
          </p:nvPr>
        </p:nvSpPr>
        <p:spPr>
          <a:xfrm>
            <a:off x="8233499" y="3911266"/>
            <a:ext cx="3061177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7" name="Espace réservé du numéro de diapositive 2"/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56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Contexte-Enjeux-Objectifs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5006975"/>
            <a:ext cx="952500" cy="102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517793" y="188640"/>
            <a:ext cx="11147158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6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527382" y="1654297"/>
            <a:ext cx="5760000" cy="3095625"/>
          </a:xfrm>
          <a:ln w="19050">
            <a:solidFill>
              <a:schemeClr val="accent5"/>
            </a:solidFill>
          </a:ln>
        </p:spPr>
        <p:txBody>
          <a:bodyPr lIns="108000" tIns="252000" rIns="108000"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10255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1206710" y="1496197"/>
            <a:ext cx="4714019" cy="3175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17"/>
          <p:cNvSpPr>
            <a:spLocks noGrp="1"/>
          </p:cNvSpPr>
          <p:nvPr>
            <p:ph type="body" sz="quarter" idx="21"/>
          </p:nvPr>
        </p:nvSpPr>
        <p:spPr>
          <a:xfrm>
            <a:off x="6624619" y="1654296"/>
            <a:ext cx="5040000" cy="3095625"/>
          </a:xfrm>
          <a:ln w="19050">
            <a:solidFill>
              <a:schemeClr val="accent5"/>
            </a:solidFill>
          </a:ln>
        </p:spPr>
        <p:txBody>
          <a:bodyPr lIns="108000" tIns="252000" rIns="10800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10255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963134" y="1512020"/>
            <a:ext cx="4714019" cy="3175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Espace réservé du texte 19"/>
          <p:cNvSpPr>
            <a:spLocks noGrp="1"/>
          </p:cNvSpPr>
          <p:nvPr>
            <p:ph type="body" sz="quarter" idx="22"/>
          </p:nvPr>
        </p:nvSpPr>
        <p:spPr>
          <a:xfrm>
            <a:off x="731520" y="4972050"/>
            <a:ext cx="10933099" cy="1103313"/>
          </a:xfrm>
          <a:prstGeom prst="roundRect">
            <a:avLst>
              <a:gd name="adj" fmla="val 23335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868613" indent="-285750">
              <a:buFont typeface="Wingdings" panose="05000000000000000000" pitchFamily="2" charset="2"/>
              <a:buChar char="ü"/>
              <a:defRPr/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numéro de diapositive 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Espace réservé du pied de page 3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393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1338" y="2849563"/>
            <a:ext cx="11123612" cy="107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riangle isocèle 21"/>
          <p:cNvSpPr/>
          <p:nvPr/>
        </p:nvSpPr>
        <p:spPr>
          <a:xfrm flipV="1">
            <a:off x="1827213" y="2832100"/>
            <a:ext cx="623887" cy="79375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539750" y="4508500"/>
            <a:ext cx="11123613" cy="107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riangle isocèle 21"/>
          <p:cNvSpPr/>
          <p:nvPr/>
        </p:nvSpPr>
        <p:spPr>
          <a:xfrm flipV="1">
            <a:off x="1825625" y="4492625"/>
            <a:ext cx="623888" cy="7778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527382" y="1307805"/>
            <a:ext cx="685468" cy="1541055"/>
          </a:xfrm>
          <a:solidFill>
            <a:schemeClr val="tx1"/>
          </a:solidFill>
        </p:spPr>
        <p:txBody>
          <a:bodyPr vert="vert270" anchor="ctr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527382" y="2966807"/>
            <a:ext cx="685468" cy="1541055"/>
          </a:xfrm>
          <a:solidFill>
            <a:schemeClr val="accent2"/>
          </a:solidFill>
        </p:spPr>
        <p:txBody>
          <a:bodyPr vert="vert270" anchor="ctr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527381" y="4615189"/>
            <a:ext cx="685468" cy="1541055"/>
          </a:xfrm>
          <a:solidFill>
            <a:schemeClr val="accent3"/>
          </a:solidFill>
        </p:spPr>
        <p:txBody>
          <a:bodyPr vert="vert270" anchor="ctr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541721" y="1307806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541390" y="2966808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541390" y="4615189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7" name="Espace réservé du numéro de diapositive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Espace réservé du pied de page 3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270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Gouvernance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3287713"/>
            <a:ext cx="719137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2111375"/>
            <a:ext cx="719137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4829175"/>
            <a:ext cx="719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0"/>
          </p:nvPr>
        </p:nvSpPr>
        <p:spPr>
          <a:xfrm>
            <a:off x="2409552" y="1342359"/>
            <a:ext cx="4070770" cy="538163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22"/>
          <p:cNvSpPr>
            <a:spLocks noGrp="1"/>
          </p:cNvSpPr>
          <p:nvPr>
            <p:ph type="body" sz="quarter" idx="11"/>
          </p:nvPr>
        </p:nvSpPr>
        <p:spPr>
          <a:xfrm>
            <a:off x="7199059" y="1342359"/>
            <a:ext cx="4477385" cy="538163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2"/>
          </p:nvPr>
        </p:nvSpPr>
        <p:spPr>
          <a:xfrm>
            <a:off x="2409317" y="2158521"/>
            <a:ext cx="4070350" cy="542925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texte 26"/>
          <p:cNvSpPr>
            <a:spLocks noGrp="1"/>
          </p:cNvSpPr>
          <p:nvPr>
            <p:ph type="body" sz="quarter" idx="13"/>
          </p:nvPr>
        </p:nvSpPr>
        <p:spPr>
          <a:xfrm>
            <a:off x="7199059" y="2133121"/>
            <a:ext cx="4477385" cy="627062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9" name="Espace réservé du texte 28"/>
          <p:cNvSpPr>
            <a:spLocks noGrp="1"/>
          </p:cNvSpPr>
          <p:nvPr>
            <p:ph type="body" sz="quarter" idx="14"/>
          </p:nvPr>
        </p:nvSpPr>
        <p:spPr>
          <a:xfrm>
            <a:off x="2409317" y="3172682"/>
            <a:ext cx="4070350" cy="871379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5"/>
          </p:nvPr>
        </p:nvSpPr>
        <p:spPr>
          <a:xfrm>
            <a:off x="7199376" y="3172682"/>
            <a:ext cx="4476750" cy="871379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6"/>
          </p:nvPr>
        </p:nvSpPr>
        <p:spPr>
          <a:xfrm>
            <a:off x="2409317" y="4486942"/>
            <a:ext cx="4070350" cy="1340257"/>
          </a:xfrm>
        </p:spPr>
        <p:txBody>
          <a:bodyPr anchor="ctr"/>
          <a:lstStyle>
            <a:lvl1pPr>
              <a:spcAft>
                <a:spcPts val="3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7"/>
          </p:nvPr>
        </p:nvSpPr>
        <p:spPr>
          <a:xfrm>
            <a:off x="7199376" y="4486942"/>
            <a:ext cx="4476750" cy="1340257"/>
          </a:xfrm>
        </p:spPr>
        <p:txBody>
          <a:bodyPr anchor="ctr"/>
          <a:lstStyle>
            <a:lvl1pPr>
              <a:spcAft>
                <a:spcPts val="3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du numéro de diapositive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6" name="Espace réservé du pied de page 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469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11175" y="1409700"/>
            <a:ext cx="3348038" cy="288925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fr-FR" sz="1200" b="1">
                <a:solidFill>
                  <a:schemeClr val="bg1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COMPETENCES</a:t>
            </a:r>
            <a:endParaRPr lang="fr-FR" sz="1000" b="1">
              <a:solidFill>
                <a:schemeClr val="bg1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25913" y="2965450"/>
            <a:ext cx="7524750" cy="288925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fr-FR" sz="1200" b="1">
                <a:solidFill>
                  <a:schemeClr val="bg1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EXPERIENCES - Extraits</a:t>
            </a:r>
            <a:endParaRPr lang="fr-FR" sz="1000" b="1">
              <a:solidFill>
                <a:schemeClr val="bg1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33850" y="1409700"/>
            <a:ext cx="7524750" cy="288925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fr-FR" sz="1200" b="1">
                <a:solidFill>
                  <a:schemeClr val="bg1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EN BREF</a:t>
            </a:r>
            <a:endParaRPr lang="fr-FR" sz="1000" b="1">
              <a:solidFill>
                <a:schemeClr val="bg1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11" name="Connecteur droit 10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53951" y="135475"/>
            <a:ext cx="9404707" cy="497160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0"/>
          </p:nvPr>
        </p:nvSpPr>
        <p:spPr>
          <a:xfrm>
            <a:off x="2254102" y="632635"/>
            <a:ext cx="9404033" cy="476338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pour une image  14"/>
          <p:cNvSpPr>
            <a:spLocks noGrp="1"/>
          </p:cNvSpPr>
          <p:nvPr>
            <p:ph type="pic" sz="quarter" idx="11"/>
          </p:nvPr>
        </p:nvSpPr>
        <p:spPr>
          <a:xfrm>
            <a:off x="844486" y="142805"/>
            <a:ext cx="993939" cy="97292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2"/>
          </p:nvPr>
        </p:nvSpPr>
        <p:spPr>
          <a:xfrm>
            <a:off x="511175" y="1786270"/>
            <a:ext cx="3348038" cy="4358943"/>
          </a:xfrm>
          <a:solidFill>
            <a:schemeClr val="bg2"/>
          </a:solidFill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4133850" y="1786270"/>
            <a:ext cx="7515225" cy="1020249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4"/>
          </p:nvPr>
        </p:nvSpPr>
        <p:spPr>
          <a:xfrm>
            <a:off x="4126272" y="3338623"/>
            <a:ext cx="7532328" cy="2806590"/>
          </a:xfrm>
          <a:solidFill>
            <a:schemeClr val="bg2"/>
          </a:solidFill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76671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 atouts Beijaf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1374775" y="1803400"/>
            <a:ext cx="1047750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1366838" y="2795588"/>
            <a:ext cx="1046162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365250" y="3760788"/>
            <a:ext cx="1047750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1346200" y="5705475"/>
            <a:ext cx="104616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>
            <a:off x="1366838" y="4725988"/>
            <a:ext cx="1046162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3430588"/>
            <a:ext cx="576262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Imag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1506538"/>
            <a:ext cx="576262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Imag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2514600"/>
            <a:ext cx="576262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4564063"/>
            <a:ext cx="576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Imag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5427663"/>
            <a:ext cx="576262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0"/>
          </p:nvPr>
        </p:nvSpPr>
        <p:spPr>
          <a:xfrm>
            <a:off x="2640413" y="1460808"/>
            <a:ext cx="9024538" cy="684212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1"/>
          </p:nvPr>
        </p:nvSpPr>
        <p:spPr>
          <a:xfrm>
            <a:off x="2640013" y="2435342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4" name="Espace réservé du texte 32"/>
          <p:cNvSpPr>
            <a:spLocks noGrp="1"/>
          </p:cNvSpPr>
          <p:nvPr>
            <p:ph type="body" sz="quarter" idx="12"/>
          </p:nvPr>
        </p:nvSpPr>
        <p:spPr>
          <a:xfrm>
            <a:off x="2634238" y="3400974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5" name="Espace réservé du texte 32"/>
          <p:cNvSpPr>
            <a:spLocks noGrp="1"/>
          </p:cNvSpPr>
          <p:nvPr>
            <p:ph type="body" sz="quarter" idx="13"/>
          </p:nvPr>
        </p:nvSpPr>
        <p:spPr>
          <a:xfrm>
            <a:off x="2673403" y="4345134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6" name="Espace réservé du texte 32"/>
          <p:cNvSpPr>
            <a:spLocks noGrp="1"/>
          </p:cNvSpPr>
          <p:nvPr>
            <p:ph type="body" sz="quarter" idx="14"/>
          </p:nvPr>
        </p:nvSpPr>
        <p:spPr>
          <a:xfrm>
            <a:off x="2673403" y="5345662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Espace réservé du numéro de diapositive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2019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émar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graphique SmartArt 5"/>
          <p:cNvSpPr>
            <a:spLocks noGrp="1"/>
          </p:cNvSpPr>
          <p:nvPr>
            <p:ph type="dgm" sz="quarter" idx="10"/>
          </p:nvPr>
        </p:nvSpPr>
        <p:spPr>
          <a:xfrm>
            <a:off x="511910" y="1426909"/>
            <a:ext cx="11152708" cy="1106487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 graphique SmartArt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1"/>
          </p:nvPr>
        </p:nvSpPr>
        <p:spPr>
          <a:xfrm>
            <a:off x="527050" y="2825496"/>
            <a:ext cx="11137900" cy="2990850"/>
          </a:xfrm>
          <a:ln w="19050">
            <a:solidFill>
              <a:schemeClr val="accent5"/>
            </a:solidFill>
          </a:ln>
        </p:spPr>
        <p:txBody>
          <a:bodyPr tIns="21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3882031" y="2574671"/>
            <a:ext cx="4427938" cy="50165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numéro de diapositive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32839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92838"/>
            <a:ext cx="12192000" cy="665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20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smtClean="0">
                <a:solidFill>
                  <a:schemeClr val="tx2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8965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E709A-029D-4629-A40F-0DB24EB4D2C7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07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511175" y="188913"/>
            <a:ext cx="111537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11175" y="1563688"/>
            <a:ext cx="11153775" cy="445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</p:txBody>
      </p:sp>
      <p:pic>
        <p:nvPicPr>
          <p:cNvPr id="1028" name="Image 1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72213"/>
            <a:ext cx="121920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776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•"/>
        <a:defRPr lang="fr-FR" kern="1200" dirty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12775" indent="-34290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Font typeface="Browallia New" panose="020B0604020202020204"/>
        <a:buChar char="›"/>
        <a:defRPr lang="fr-FR" sz="1600" kern="1200" dirty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20750" indent="-34290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Font typeface="Calibri" panose="020F0502020204030204" pitchFamily="34" charset="0"/>
        <a:buChar char="»"/>
        <a:defRPr lang="fr-FR" sz="1400" kern="1200" dirty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25525" indent="-28575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Font typeface="Arial" panose="020B0604020202020204" pitchFamily="34" charset="0"/>
        <a:defRPr lang="fr-FR" sz="1400" kern="1200" dirty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000" kern="1200">
          <a:solidFill>
            <a:srgbClr val="0070AB"/>
          </a:solidFill>
          <a:latin typeface="Browallia New" panose="020B0604020202020204" pitchFamily="34" charset="-34"/>
          <a:ea typeface="Browallia New" panose="020B0604020202020204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9480" y="3069772"/>
            <a:ext cx="6731926" cy="1798536"/>
          </a:xfrm>
        </p:spPr>
        <p:txBody>
          <a:bodyPr/>
          <a:lstStyle/>
          <a:p>
            <a:r>
              <a:rPr lang="fr-FR" dirty="0" smtClean="0">
                <a:latin typeface="Franklin Gothic Book"/>
              </a:rPr>
              <a:t>RAG :</a:t>
            </a:r>
            <a:r>
              <a:rPr lang="fr-FR" dirty="0"/>
              <a:t/>
            </a:r>
            <a:br>
              <a:rPr lang="fr-FR" dirty="0"/>
            </a:br>
            <a:r>
              <a:rPr lang="fr-FR" dirty="0" err="1" smtClean="0">
                <a:latin typeface="Franklin Gothic Book"/>
              </a:rPr>
              <a:t>Retrieval</a:t>
            </a:r>
            <a:r>
              <a:rPr lang="fr-FR" dirty="0" smtClean="0">
                <a:latin typeface="Franklin Gothic Book"/>
              </a:rPr>
              <a:t> </a:t>
            </a:r>
            <a:r>
              <a:rPr lang="fr-FR" dirty="0" err="1" smtClean="0">
                <a:latin typeface="Franklin Gothic Book"/>
              </a:rPr>
              <a:t>Augmented</a:t>
            </a:r>
            <a:r>
              <a:rPr lang="fr-FR" dirty="0" smtClean="0">
                <a:latin typeface="Franklin Gothic Book"/>
              </a:rPr>
              <a:t> </a:t>
            </a:r>
            <a:r>
              <a:rPr lang="fr-FR" dirty="0" err="1" smtClean="0">
                <a:latin typeface="Franklin Gothic Book"/>
              </a:rPr>
              <a:t>Generation</a:t>
            </a:r>
            <a:r>
              <a:rPr lang="fr-FR" dirty="0">
                <a:latin typeface="Franklin Gothic Book"/>
              </a:rPr>
              <a:t/>
            </a:r>
            <a:br>
              <a:rPr lang="fr-FR" dirty="0">
                <a:latin typeface="Franklin Gothic Book"/>
              </a:rPr>
            </a:br>
            <a:r>
              <a:rPr lang="fr-FR" dirty="0" smtClean="0">
                <a:latin typeface="Franklin Gothic Book"/>
              </a:rPr>
              <a:t>17</a:t>
            </a:r>
            <a:r>
              <a:rPr lang="fr-FR" dirty="0" smtClean="0">
                <a:latin typeface="Franklin Gothic Book"/>
              </a:rPr>
              <a:t>/03/2025</a:t>
            </a:r>
            <a:endParaRPr lang="fr-FR" dirty="0">
              <a:latin typeface="Franklin Gothic Book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0532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Objectifs du RAG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829697" y="1757582"/>
            <a:ext cx="6336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2 objectifs :</a:t>
            </a:r>
            <a:endParaRPr lang="fr-FR" sz="2000" dirty="0"/>
          </a:p>
        </p:txBody>
      </p:sp>
      <p:sp>
        <p:nvSpPr>
          <p:cNvPr id="19" name="ZoneTexte 18"/>
          <p:cNvSpPr txBox="1"/>
          <p:nvPr/>
        </p:nvSpPr>
        <p:spPr>
          <a:xfrm>
            <a:off x="1172595" y="2207478"/>
            <a:ext cx="9329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Augmenter la base de connaissances du LLM, sans avoir à </a:t>
            </a:r>
            <a:r>
              <a:rPr lang="fr-FR" dirty="0" err="1" smtClean="0"/>
              <a:t>réentrainer</a:t>
            </a:r>
            <a:r>
              <a:rPr lang="fr-FR" dirty="0" smtClean="0"/>
              <a:t> le LLM </a:t>
            </a:r>
            <a:r>
              <a:rPr lang="fr-FR" dirty="0" smtClean="0">
                <a:sym typeface="Wingdings" panose="05000000000000000000" pitchFamily="2" charset="2"/>
              </a:rPr>
              <a:t></a:t>
            </a:r>
            <a:r>
              <a:rPr lang="fr-FR" dirty="0" smtClean="0"/>
              <a:t> économie de temps de calcul et d’argent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Réduction </a:t>
            </a:r>
            <a:r>
              <a:rPr lang="fr-FR" dirty="0" smtClean="0"/>
              <a:t>des </a:t>
            </a:r>
            <a:r>
              <a:rPr lang="fr-FR" dirty="0" smtClean="0"/>
              <a:t>hallucinations </a:t>
            </a:r>
            <a:r>
              <a:rPr lang="fr-FR" dirty="0" smtClean="0">
                <a:sym typeface="Wingdings" panose="05000000000000000000" pitchFamily="2" charset="2"/>
              </a:rPr>
              <a:t>//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>
                <a:sym typeface="Wingdings" panose="05000000000000000000" pitchFamily="2" charset="2"/>
              </a:rPr>
              <a:t>g</a:t>
            </a:r>
            <a:r>
              <a:rPr lang="fr-FR" dirty="0" smtClean="0"/>
              <a:t>énération </a:t>
            </a:r>
            <a:r>
              <a:rPr lang="fr-FR" dirty="0" smtClean="0"/>
              <a:t>de réponses précises et pertinentes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829697" y="3242340"/>
            <a:ext cx="6336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Comment :</a:t>
            </a:r>
            <a:endParaRPr lang="fr-FR" sz="2000" dirty="0"/>
          </a:p>
        </p:txBody>
      </p:sp>
      <p:sp>
        <p:nvSpPr>
          <p:cNvPr id="21" name="ZoneTexte 20"/>
          <p:cNvSpPr txBox="1"/>
          <p:nvPr/>
        </p:nvSpPr>
        <p:spPr>
          <a:xfrm>
            <a:off x="1172596" y="3773308"/>
            <a:ext cx="100815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1/  Module de recherche (retriever) =&gt; trouver des documents pertinents dans une base de   connaissances d’après une requête (</a:t>
            </a:r>
            <a:r>
              <a:rPr lang="fr-FR" dirty="0" err="1" smtClean="0"/>
              <a:t>query</a:t>
            </a:r>
            <a:r>
              <a:rPr lang="fr-FR" dirty="0" smtClean="0"/>
              <a:t>) </a:t>
            </a:r>
          </a:p>
          <a:p>
            <a:r>
              <a:rPr lang="fr-FR" dirty="0" smtClean="0"/>
              <a:t> </a:t>
            </a:r>
          </a:p>
          <a:p>
            <a:r>
              <a:rPr lang="fr-FR" dirty="0" smtClean="0"/>
              <a:t>2/  Module </a:t>
            </a:r>
            <a:r>
              <a:rPr lang="fr-FR" dirty="0"/>
              <a:t>de </a:t>
            </a:r>
            <a:r>
              <a:rPr lang="fr-FR" dirty="0" smtClean="0"/>
              <a:t>génération (</a:t>
            </a:r>
            <a:r>
              <a:rPr lang="fr-FR" dirty="0" err="1" smtClean="0"/>
              <a:t>generator</a:t>
            </a:r>
            <a:r>
              <a:rPr lang="fr-FR" dirty="0" smtClean="0"/>
              <a:t>) =&gt; produire une réponse cohérente en s’appuyant sur les informations retournées du retriever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5876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L’architecture RAG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607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L’architecture RAG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218" y="1438302"/>
            <a:ext cx="6248400" cy="4395749"/>
          </a:xfrm>
          <a:prstGeom prst="rect">
            <a:avLst/>
          </a:prstGeom>
        </p:spPr>
      </p:pic>
      <p:sp>
        <p:nvSpPr>
          <p:cNvPr id="4" name="Accolade ouvrante 3"/>
          <p:cNvSpPr/>
          <p:nvPr/>
        </p:nvSpPr>
        <p:spPr>
          <a:xfrm flipH="1">
            <a:off x="8202759" y="1438301"/>
            <a:ext cx="456839" cy="2631889"/>
          </a:xfrm>
          <a:prstGeom prst="leftBrace">
            <a:avLst>
              <a:gd name="adj1" fmla="val 73550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8732149" y="2551629"/>
            <a:ext cx="2772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Information </a:t>
            </a:r>
            <a:r>
              <a:rPr lang="fr-FR" dirty="0" err="1"/>
              <a:t>Retrieval</a:t>
            </a:r>
            <a:r>
              <a:rPr lang="fr-FR" dirty="0"/>
              <a:t> (IR)</a:t>
            </a:r>
          </a:p>
        </p:txBody>
      </p:sp>
      <p:sp>
        <p:nvSpPr>
          <p:cNvPr id="6" name="Accolade ouvrante 5"/>
          <p:cNvSpPr/>
          <p:nvPr/>
        </p:nvSpPr>
        <p:spPr>
          <a:xfrm flipH="1">
            <a:off x="8202758" y="4715083"/>
            <a:ext cx="456839" cy="1230429"/>
          </a:xfrm>
          <a:prstGeom prst="leftBrace">
            <a:avLst>
              <a:gd name="adj1" fmla="val 73550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732149" y="5145631"/>
            <a:ext cx="323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Augmented</a:t>
            </a:r>
            <a:r>
              <a:rPr lang="fr-FR" dirty="0"/>
              <a:t> </a:t>
            </a:r>
            <a:r>
              <a:rPr lang="fr-FR" dirty="0" err="1"/>
              <a:t>Generation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2891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L’architecture RAG</a:t>
            </a:r>
          </a:p>
        </p:txBody>
      </p:sp>
      <p:pic>
        <p:nvPicPr>
          <p:cNvPr id="1026" name="Picture 2" descr="Concepts clés de la RAG Vertex 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172" y="1535724"/>
            <a:ext cx="9652515" cy="3722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29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3F30CC91-D16A-256B-ACF0-6310505B810D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/>
          <a:stretch/>
        </p:blipFill>
        <p:spPr>
          <a:xfrm>
            <a:off x="8997435" y="1972775"/>
            <a:ext cx="1435380" cy="1456255"/>
          </a:xfr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Construire sa base de données vectorielles</a:t>
            </a:r>
          </a:p>
        </p:txBody>
      </p:sp>
      <p:sp>
        <p:nvSpPr>
          <p:cNvPr id="45" name="Espace réservé du texte 4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fr-FR" dirty="0">
                <a:cs typeface="Browallia New"/>
              </a:rPr>
              <a:t>Extraction </a:t>
            </a:r>
            <a:r>
              <a:rPr lang="fr-FR">
                <a:cs typeface="Browallia New"/>
              </a:rPr>
              <a:t>de</a:t>
            </a:r>
            <a:r>
              <a:rPr lang="fr-FR" dirty="0">
                <a:cs typeface="Browallia New"/>
              </a:rPr>
              <a:t> texte à partir de documents sous différents formats (PDF, HTML, </a:t>
            </a:r>
            <a:r>
              <a:rPr lang="fr-FR" dirty="0" err="1">
                <a:cs typeface="Browallia New"/>
              </a:rPr>
              <a:t>Markdown</a:t>
            </a:r>
            <a:r>
              <a:rPr lang="fr-FR" dirty="0">
                <a:cs typeface="Browallia New"/>
              </a:rPr>
              <a:t>, ...)</a:t>
            </a:r>
            <a:endParaRPr lang="fr-FR" dirty="0"/>
          </a:p>
          <a:p>
            <a:endParaRPr lang="fr-FR"/>
          </a:p>
        </p:txBody>
      </p:sp>
      <p:sp>
        <p:nvSpPr>
          <p:cNvPr id="40" name="Espace réservé du texte 39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fr-FR" dirty="0">
                <a:cs typeface="Browallia New"/>
              </a:rPr>
              <a:t>Transformation du texte en une suite de </a:t>
            </a:r>
            <a:r>
              <a:rPr lang="fr-FR" err="1">
                <a:cs typeface="Browallia New"/>
              </a:rPr>
              <a:t>tokens</a:t>
            </a:r>
            <a:r>
              <a:rPr lang="fr-FR" dirty="0">
                <a:cs typeface="Browallia New"/>
              </a:rPr>
              <a:t>, puis découpage en ensembles de </a:t>
            </a:r>
            <a:r>
              <a:rPr lang="fr-FR" err="1">
                <a:cs typeface="Browallia New"/>
              </a:rPr>
              <a:t>tokens</a:t>
            </a:r>
            <a:r>
              <a:rPr lang="fr-FR">
                <a:cs typeface="Browallia New"/>
              </a:rPr>
              <a:t> d'une longueur donnée ("</a:t>
            </a:r>
            <a:r>
              <a:rPr lang="fr-FR" err="1">
                <a:cs typeface="Browallia New"/>
              </a:rPr>
              <a:t>chunks</a:t>
            </a:r>
            <a:r>
              <a:rPr lang="fr-FR" dirty="0">
                <a:cs typeface="Browallia New"/>
              </a:rPr>
              <a:t>")</a:t>
            </a:r>
          </a:p>
          <a:p>
            <a:endParaRPr lang="fr-FR"/>
          </a:p>
        </p:txBody>
      </p:sp>
      <p:sp>
        <p:nvSpPr>
          <p:cNvPr id="41" name="Espace réservé du texte 40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>
                <a:cs typeface="Browallia New"/>
              </a:rPr>
              <a:t>Conversion des </a:t>
            </a:r>
            <a:r>
              <a:rPr lang="fr-FR" err="1">
                <a:cs typeface="Browallia New"/>
              </a:rPr>
              <a:t>chunks</a:t>
            </a:r>
            <a:r>
              <a:rPr lang="fr-FR">
                <a:cs typeface="Browallia New"/>
              </a:rPr>
              <a:t> en vecteurs par le modèle d’</a:t>
            </a:r>
            <a:r>
              <a:rPr lang="fr-FR" err="1">
                <a:cs typeface="Browallia New"/>
              </a:rPr>
              <a:t>embedding</a:t>
            </a:r>
            <a:r>
              <a:rPr lang="fr-FR">
                <a:cs typeface="Browallia New"/>
              </a:rPr>
              <a:t> (un vecteur par chunk)</a:t>
            </a:r>
            <a:endParaRPr lang="fr-FR"/>
          </a:p>
          <a:p>
            <a:r>
              <a:rPr lang="fr-FR">
                <a:cs typeface="Browallia New"/>
              </a:rPr>
              <a:t>On peut ajouter des métadonnées dans l'</a:t>
            </a:r>
            <a:r>
              <a:rPr lang="fr-FR" err="1">
                <a:cs typeface="Browallia New"/>
              </a:rPr>
              <a:t>embedding</a:t>
            </a:r>
            <a:r>
              <a:rPr lang="fr-FR">
                <a:cs typeface="Browallia New"/>
              </a:rPr>
              <a:t> (date, titre du document d'origine, etc.)</a:t>
            </a:r>
            <a:endParaRPr lang="fr-FR"/>
          </a:p>
          <a:p>
            <a:endParaRPr lang="fr-FR"/>
          </a:p>
        </p:txBody>
      </p:sp>
      <p:sp>
        <p:nvSpPr>
          <p:cNvPr id="42" name="Espace réservé du contenu 41"/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r>
              <a:rPr lang="fr-FR" err="1"/>
              <a:t>Parsing</a:t>
            </a:r>
            <a:endParaRPr lang="fr-FR"/>
          </a:p>
        </p:txBody>
      </p:sp>
      <p:sp>
        <p:nvSpPr>
          <p:cNvPr id="46" name="Espace réservé du contenu 45"/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fr-FR" err="1"/>
              <a:t>Chunking</a:t>
            </a:r>
            <a:endParaRPr lang="fr-FR"/>
          </a:p>
        </p:txBody>
      </p:sp>
      <p:sp>
        <p:nvSpPr>
          <p:cNvPr id="47" name="Espace réservé du contenu 46"/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r>
              <a:rPr lang="fr-FR" err="1"/>
              <a:t>Embedding</a:t>
            </a:r>
            <a:endParaRPr lang="fr-FR"/>
          </a:p>
        </p:txBody>
      </p:sp>
      <p:pic>
        <p:nvPicPr>
          <p:cNvPr id="52" name="Image 51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45016" y="2136461"/>
            <a:ext cx="912421" cy="931710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886" y="2130033"/>
            <a:ext cx="1114730" cy="112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63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Retriever : Récupération des </a:t>
            </a:r>
            <a:r>
              <a:rPr lang="fr-FR" dirty="0" err="1"/>
              <a:t>chunks</a:t>
            </a:r>
            <a:r>
              <a:rPr lang="fr-FR" dirty="0"/>
              <a:t> pertinents 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807217" y="3460143"/>
            <a:ext cx="1869635" cy="432585"/>
          </a:xfrm>
        </p:spPr>
        <p:txBody>
          <a:bodyPr/>
          <a:lstStyle/>
          <a:p>
            <a:pPr marL="0" indent="0" algn="just">
              <a:buNone/>
            </a:pPr>
            <a:r>
              <a:rPr lang="fr-FR" sz="1600" b="1" dirty="0">
                <a:cs typeface="Browallia New"/>
              </a:rPr>
              <a:t>Méthode dense</a:t>
            </a:r>
            <a:endParaRPr lang="en-US" sz="1600" b="1" dirty="0">
              <a:cs typeface="Browallia New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D46ADB-1DBF-2BE2-CED8-968809619296}"/>
              </a:ext>
            </a:extLst>
          </p:cNvPr>
          <p:cNvGrpSpPr/>
          <p:nvPr/>
        </p:nvGrpSpPr>
        <p:grpSpPr>
          <a:xfrm>
            <a:off x="1091124" y="2409013"/>
            <a:ext cx="1236868" cy="876793"/>
            <a:chOff x="2327326" y="1398664"/>
            <a:chExt cx="1435379" cy="1049161"/>
          </a:xfrm>
        </p:grpSpPr>
        <p:pic>
          <p:nvPicPr>
            <p:cNvPr id="10" name="Picture Placeholder 2">
              <a:extLst>
                <a:ext uri="{FF2B5EF4-FFF2-40B4-BE49-F238E27FC236}">
                  <a16:creationId xmlns:a16="http://schemas.microsoft.com/office/drawing/2014/main" id="{49B770DA-3550-4550-BEBC-2E09AD878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327326" y="1398665"/>
              <a:ext cx="1017846" cy="1049160"/>
            </a:xfrm>
            <a:prstGeom prst="rect">
              <a:avLst/>
            </a:prstGeom>
          </p:spPr>
        </p:pic>
        <p:pic>
          <p:nvPicPr>
            <p:cNvPr id="11" name="Picture Placeholder 2">
              <a:extLst>
                <a:ext uri="{FF2B5EF4-FFF2-40B4-BE49-F238E27FC236}">
                  <a16:creationId xmlns:a16="http://schemas.microsoft.com/office/drawing/2014/main" id="{54BAB325-1A9D-09CC-6A35-D47410499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744859" y="1398664"/>
              <a:ext cx="1017846" cy="1049160"/>
            </a:xfrm>
            <a:prstGeom prst="rect">
              <a:avLst/>
            </a:prstGeom>
          </p:spPr>
        </p:pic>
      </p:grpSp>
      <p:sp>
        <p:nvSpPr>
          <p:cNvPr id="14" name="Espace réservé du texte 4">
            <a:extLst>
              <a:ext uri="{FF2B5EF4-FFF2-40B4-BE49-F238E27FC236}">
                <a16:creationId xmlns:a16="http://schemas.microsoft.com/office/drawing/2014/main" id="{DD01463E-0C3D-E23A-7518-5268A2279A24}"/>
              </a:ext>
            </a:extLst>
          </p:cNvPr>
          <p:cNvSpPr txBox="1">
            <a:spLocks/>
          </p:cNvSpPr>
          <p:nvPr/>
        </p:nvSpPr>
        <p:spPr bwMode="auto">
          <a:xfrm>
            <a:off x="3004165" y="2589403"/>
            <a:ext cx="8299662" cy="838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612775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/>
              <a:buChar char="›"/>
              <a:defRPr lang="fr-FR" sz="16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2pPr>
            <a:lvl3pPr marL="920750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3pPr>
            <a:lvl4pPr marL="1025525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defRPr lang="fr-FR" sz="1400" kern="1200" dirty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4pPr>
            <a:lvl5pPr marL="18288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000" kern="1200">
                <a:solidFill>
                  <a:srgbClr val="0070AB"/>
                </a:solidFill>
                <a:latin typeface="Browallia New" panose="020B0604020202020204" pitchFamily="34" charset="-34"/>
                <a:ea typeface="Browallia New" panose="020B0604020202020204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dirty="0">
                <a:cs typeface="Browallia New"/>
              </a:rPr>
              <a:t>On </a:t>
            </a:r>
            <a:r>
              <a:rPr lang="en-US" sz="1600" dirty="0" err="1">
                <a:cs typeface="Browallia New"/>
              </a:rPr>
              <a:t>calcule</a:t>
            </a:r>
            <a:r>
              <a:rPr lang="en-US" sz="1600" dirty="0">
                <a:cs typeface="Browallia New"/>
              </a:rPr>
              <a:t> la </a:t>
            </a:r>
            <a:r>
              <a:rPr lang="en-US" sz="1600" dirty="0" err="1">
                <a:cs typeface="Browallia New"/>
              </a:rPr>
              <a:t>similarité</a:t>
            </a:r>
            <a:r>
              <a:rPr lang="en-US" sz="1600" dirty="0">
                <a:cs typeface="Browallia New"/>
              </a:rPr>
              <a:t> (</a:t>
            </a:r>
            <a:r>
              <a:rPr lang="en-US" sz="1600" dirty="0" err="1">
                <a:cs typeface="Browallia New"/>
              </a:rPr>
              <a:t>sémantique</a:t>
            </a:r>
            <a:r>
              <a:rPr lang="en-US" sz="1600" dirty="0">
                <a:cs typeface="Browallia New"/>
              </a:rPr>
              <a:t>) entre le </a:t>
            </a:r>
            <a:r>
              <a:rPr lang="en-US" sz="1600" dirty="0" err="1">
                <a:cs typeface="Browallia New"/>
              </a:rPr>
              <a:t>vecteur</a:t>
            </a:r>
            <a:r>
              <a:rPr lang="en-US" sz="1600" dirty="0">
                <a:cs typeface="Browallia New"/>
              </a:rPr>
              <a:t> </a:t>
            </a:r>
            <a:r>
              <a:rPr lang="en-US" sz="1600" dirty="0" err="1">
                <a:cs typeface="Browallia New"/>
              </a:rPr>
              <a:t>d'embedding</a:t>
            </a:r>
            <a:r>
              <a:rPr lang="en-US" sz="1600" dirty="0">
                <a:cs typeface="Browallia New"/>
              </a:rPr>
              <a:t> de la query et les </a:t>
            </a:r>
            <a:r>
              <a:rPr lang="en-US" sz="1600" dirty="0" err="1">
                <a:cs typeface="Browallia New"/>
              </a:rPr>
              <a:t>embeddings</a:t>
            </a:r>
            <a:r>
              <a:rPr lang="en-US" sz="1600" dirty="0">
                <a:cs typeface="Browallia New"/>
              </a:rPr>
              <a:t> des chunks de la base de </a:t>
            </a:r>
            <a:r>
              <a:rPr lang="en-US" sz="1600" dirty="0" err="1">
                <a:cs typeface="Browallia New"/>
              </a:rPr>
              <a:t>données</a:t>
            </a:r>
            <a:r>
              <a:rPr lang="en-US" sz="1600" dirty="0">
                <a:cs typeface="Browallia New"/>
              </a:rPr>
              <a:t>.</a:t>
            </a:r>
            <a:endParaRPr lang="en-US" sz="1600" dirty="0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F12E5150-5A1B-267C-B63A-277663623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467" y="4154925"/>
            <a:ext cx="854182" cy="862706"/>
          </a:xfrm>
          <a:prstGeom prst="rect">
            <a:avLst/>
          </a:prstGeom>
        </p:spPr>
      </p:pic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AFF9B202-0624-C0C6-4111-59C3CB4C04F7}"/>
              </a:ext>
            </a:extLst>
          </p:cNvPr>
          <p:cNvSpPr txBox="1">
            <a:spLocks/>
          </p:cNvSpPr>
          <p:nvPr/>
        </p:nvSpPr>
        <p:spPr bwMode="auto">
          <a:xfrm>
            <a:off x="511175" y="5156146"/>
            <a:ext cx="2461720" cy="745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44500" indent="-174625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lang="fr-FR" sz="1600" kern="120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2pPr>
            <a:lvl3pPr marL="806450" indent="-2286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3pPr>
            <a:lvl4pPr marL="981075" indent="-2413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4pPr>
            <a:lvl5pPr marL="12509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  <a:defRPr sz="2000" kern="1200">
                <a:solidFill>
                  <a:srgbClr val="0070AB"/>
                </a:solidFill>
                <a:latin typeface="Browallia New" panose="020B0604020202020204" pitchFamily="34" charset="-34"/>
                <a:ea typeface="Browallia New" panose="020B0604020202020204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dirty="0" err="1">
                <a:cs typeface="Browallia New"/>
              </a:rPr>
              <a:t>Méthode</a:t>
            </a:r>
            <a:r>
              <a:rPr lang="en-US" sz="1600" b="1" dirty="0">
                <a:cs typeface="Browallia New"/>
              </a:rPr>
              <a:t> sparse (bag-of-words)</a:t>
            </a:r>
            <a:endParaRPr lang="en-US" sz="1600" dirty="0"/>
          </a:p>
        </p:txBody>
      </p:sp>
      <p:sp>
        <p:nvSpPr>
          <p:cNvPr id="3" name="Rectangle 2"/>
          <p:cNvSpPr/>
          <p:nvPr/>
        </p:nvSpPr>
        <p:spPr>
          <a:xfrm>
            <a:off x="3004165" y="4586278"/>
            <a:ext cx="807915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fr-FR" sz="1600" dirty="0">
                <a:cs typeface="Browallia New"/>
              </a:rPr>
              <a:t>Les documents sont récupérés en fonction de l'exact match des mots de la </a:t>
            </a:r>
            <a:r>
              <a:rPr lang="fr-FR" sz="1600" dirty="0" err="1">
                <a:cs typeface="Browallia New"/>
              </a:rPr>
              <a:t>query</a:t>
            </a:r>
            <a:r>
              <a:rPr lang="fr-FR" sz="1600" dirty="0">
                <a:cs typeface="Browallia New"/>
              </a:rPr>
              <a:t> et du contenu du document.</a:t>
            </a:r>
          </a:p>
          <a:p>
            <a:pPr marL="0" indent="0" algn="just">
              <a:buNone/>
            </a:pPr>
            <a:r>
              <a:rPr lang="fr-FR" sz="1600" dirty="0" err="1">
                <a:cs typeface="Browallia New"/>
              </a:rPr>
              <a:t>Equivalent</a:t>
            </a:r>
            <a:r>
              <a:rPr lang="fr-FR" sz="1600" dirty="0">
                <a:cs typeface="Browallia New"/>
              </a:rPr>
              <a:t> à une recherche par mots-clés (</a:t>
            </a:r>
            <a:r>
              <a:rPr lang="fr-FR" sz="1600" dirty="0" err="1">
                <a:cs typeface="Browallia New"/>
              </a:rPr>
              <a:t>Ctrl+F</a:t>
            </a:r>
            <a:r>
              <a:rPr lang="fr-FR" sz="1600" dirty="0">
                <a:cs typeface="Browallia New"/>
              </a:rPr>
              <a:t>) automatisée</a:t>
            </a:r>
            <a:endParaRPr lang="fr-FR" sz="1600" dirty="0"/>
          </a:p>
        </p:txBody>
      </p:sp>
      <p:sp>
        <p:nvSpPr>
          <p:cNvPr id="16" name="Titre 1"/>
          <p:cNvSpPr txBox="1">
            <a:spLocks/>
          </p:cNvSpPr>
          <p:nvPr/>
        </p:nvSpPr>
        <p:spPr bwMode="auto">
          <a:xfrm>
            <a:off x="511174" y="1080453"/>
            <a:ext cx="111537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273457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273457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273457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273457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fr-FR" sz="2000" dirty="0" err="1" smtClean="0"/>
              <a:t>Hybrid</a:t>
            </a:r>
            <a:r>
              <a:rPr lang="fr-FR" sz="2000" dirty="0" smtClean="0"/>
              <a:t> </a:t>
            </a:r>
            <a:r>
              <a:rPr lang="fr-FR" sz="2000" dirty="0" err="1" smtClean="0"/>
              <a:t>search</a:t>
            </a:r>
            <a:r>
              <a:rPr lang="fr-FR" sz="2000" dirty="0" smtClean="0"/>
              <a:t> :</a:t>
            </a:r>
            <a:endParaRPr lang="fr-FR" sz="2000" dirty="0"/>
          </a:p>
        </p:txBody>
      </p:sp>
      <p:sp>
        <p:nvSpPr>
          <p:cNvPr id="17" name="Rectangle 16"/>
          <p:cNvSpPr/>
          <p:nvPr/>
        </p:nvSpPr>
        <p:spPr>
          <a:xfrm>
            <a:off x="8331037" y="478613"/>
            <a:ext cx="3672000" cy="1930400"/>
          </a:xfrm>
          <a:prstGeom prst="rect">
            <a:avLst/>
          </a:prstGeom>
          <a:blipFill dpi="0" rotWithShape="1">
            <a:blip r:embed="rId4">
              <a:alphaModFix amt="34000"/>
            </a:blip>
            <a:srcRect/>
            <a:stretch>
              <a:fillRect l="-29432" t="-200" r="-4385" b="2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9384273" y="617079"/>
            <a:ext cx="594996" cy="12800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8671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Franklin Gothic Book"/>
              </a:rPr>
              <a:t>Le </a:t>
            </a:r>
            <a:r>
              <a:rPr lang="fr-FR" dirty="0" err="1" smtClean="0">
                <a:latin typeface="Franklin Gothic Book"/>
              </a:rPr>
              <a:t>reranking</a:t>
            </a:r>
            <a:endParaRPr lang="fr-FR" dirty="0"/>
          </a:p>
        </p:txBody>
      </p:sp>
      <p:pic>
        <p:nvPicPr>
          <p:cNvPr id="4" name="Picture 3" descr="A two-stage retrieval system. The vector DB step will typically include a bi-encoder or sparse embedding model.">
            <a:extLst>
              <a:ext uri="{FF2B5EF4-FFF2-40B4-BE49-F238E27FC236}">
                <a16:creationId xmlns:a16="http://schemas.microsoft.com/office/drawing/2014/main" id="{FF6477D0-0E01-4864-B86C-CE449500A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036" y="1739946"/>
            <a:ext cx="7836928" cy="36792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40146" y="521091"/>
            <a:ext cx="3672000" cy="1930400"/>
          </a:xfrm>
          <a:prstGeom prst="rect">
            <a:avLst/>
          </a:prstGeom>
          <a:blipFill dpi="0" rotWithShape="1">
            <a:blip r:embed="rId3">
              <a:alphaModFix amt="34000"/>
            </a:blip>
            <a:srcRect/>
            <a:stretch>
              <a:fillRect l="-29432" t="-200" r="-4385" b="2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9393382" y="1320800"/>
            <a:ext cx="1173018" cy="6188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641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Franklin Gothic Book"/>
              </a:rPr>
              <a:t>Taille des </a:t>
            </a:r>
            <a:r>
              <a:rPr lang="fr-FR" dirty="0" err="1">
                <a:latin typeface="Franklin Gothic Book"/>
              </a:rPr>
              <a:t>chunks</a:t>
            </a:r>
            <a:endParaRPr lang="fr-FR" dirty="0">
              <a:latin typeface="Franklin Gothic Book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3"/>
          </p:nvPr>
        </p:nvSpPr>
        <p:spPr>
          <a:xfrm>
            <a:off x="2083403" y="1834329"/>
            <a:ext cx="9584593" cy="3574474"/>
          </a:xfrm>
        </p:spPr>
        <p:txBody>
          <a:bodyPr/>
          <a:lstStyle/>
          <a:p>
            <a:pPr marL="0" indent="0" algn="just">
              <a:buNone/>
            </a:pPr>
            <a:r>
              <a:rPr lang="fr-FR" b="1" dirty="0">
                <a:cs typeface="Browallia New"/>
              </a:rPr>
              <a:t>Petits </a:t>
            </a:r>
            <a:r>
              <a:rPr lang="fr-FR" b="1" dirty="0" err="1">
                <a:cs typeface="Browallia New"/>
              </a:rPr>
              <a:t>chunks</a:t>
            </a:r>
            <a:r>
              <a:rPr lang="fr-FR" dirty="0">
                <a:cs typeface="Browallia New"/>
              </a:rPr>
              <a:t> : peu de contexte autour de l'information, </a:t>
            </a:r>
            <a:r>
              <a:rPr lang="fr-FR" dirty="0" err="1">
                <a:cs typeface="Browallia New"/>
              </a:rPr>
              <a:t>embedding</a:t>
            </a:r>
            <a:r>
              <a:rPr lang="fr-FR" dirty="0">
                <a:cs typeface="Browallia New"/>
              </a:rPr>
              <a:t> précis</a:t>
            </a:r>
          </a:p>
          <a:p>
            <a:pPr marL="0" indent="0" algn="just">
              <a:buNone/>
            </a:pPr>
            <a:r>
              <a:rPr lang="fr-FR" dirty="0">
                <a:cs typeface="Browallia New"/>
              </a:rPr>
              <a:t>Cas d'usage : </a:t>
            </a:r>
            <a:r>
              <a:rPr lang="fr-FR" dirty="0" err="1">
                <a:cs typeface="Browallia New"/>
              </a:rPr>
              <a:t>chatbot</a:t>
            </a:r>
            <a:r>
              <a:rPr lang="fr-FR" dirty="0">
                <a:cs typeface="Browallia New"/>
              </a:rPr>
              <a:t> question - réponse factuelle</a:t>
            </a:r>
          </a:p>
          <a:p>
            <a:pPr marL="0" indent="0" algn="just">
              <a:buNone/>
            </a:pPr>
            <a:endParaRPr lang="fr-FR" dirty="0">
              <a:cs typeface="Browallia New"/>
            </a:endParaRPr>
          </a:p>
          <a:p>
            <a:pPr marL="0" indent="0" algn="just">
              <a:buNone/>
            </a:pPr>
            <a:r>
              <a:rPr lang="fr-FR" b="1" dirty="0">
                <a:cs typeface="Browallia New"/>
              </a:rPr>
              <a:t>Gros </a:t>
            </a:r>
            <a:r>
              <a:rPr lang="fr-FR" b="1" dirty="0" err="1">
                <a:cs typeface="Browallia New"/>
              </a:rPr>
              <a:t>chunk</a:t>
            </a:r>
            <a:r>
              <a:rPr lang="fr-FR" dirty="0">
                <a:cs typeface="Browallia New"/>
              </a:rPr>
              <a:t> : beaucoup de contexte autour de l'information, qui est diluée au cours de l'</a:t>
            </a:r>
            <a:r>
              <a:rPr lang="fr-FR" dirty="0" err="1">
                <a:cs typeface="Browallia New"/>
              </a:rPr>
              <a:t>embedding</a:t>
            </a:r>
            <a:r>
              <a:rPr lang="fr-FR" dirty="0">
                <a:cs typeface="Browallia New"/>
              </a:rPr>
              <a:t>.</a:t>
            </a:r>
          </a:p>
          <a:p>
            <a:pPr marL="0" indent="0" algn="just">
              <a:buNone/>
            </a:pPr>
            <a:r>
              <a:rPr lang="fr-FR" dirty="0">
                <a:cs typeface="Browallia New"/>
              </a:rPr>
              <a:t>On peut vite atteindre les limites des fenêtres de contexte des </a:t>
            </a:r>
            <a:r>
              <a:rPr lang="fr-FR" dirty="0" err="1">
                <a:cs typeface="Browallia New"/>
              </a:rPr>
              <a:t>LLMs</a:t>
            </a:r>
            <a:r>
              <a:rPr lang="fr-FR" dirty="0">
                <a:cs typeface="Browallia New"/>
              </a:rPr>
              <a:t> standard si l’on a des trop gros </a:t>
            </a:r>
            <a:r>
              <a:rPr lang="fr-FR" dirty="0" err="1">
                <a:cs typeface="Browallia New"/>
              </a:rPr>
              <a:t>chunks</a:t>
            </a:r>
            <a:endParaRPr lang="fr-FR" dirty="0">
              <a:cs typeface="Browallia New"/>
            </a:endParaRPr>
          </a:p>
          <a:p>
            <a:pPr marL="0" indent="0" algn="just">
              <a:buNone/>
            </a:pPr>
            <a:r>
              <a:rPr lang="fr-FR" dirty="0">
                <a:cs typeface="Segoe UI"/>
              </a:rPr>
              <a:t>Cas d'usage </a:t>
            </a:r>
            <a:r>
              <a:rPr lang="fr-FR" dirty="0">
                <a:cs typeface="Browallia New"/>
              </a:rPr>
              <a:t>: résumé d'un document en mémoire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4A7BFB3-5A48-185D-0DC1-6C8DDD03CD4F}"/>
              </a:ext>
            </a:extLst>
          </p:cNvPr>
          <p:cNvGrpSpPr/>
          <p:nvPr/>
        </p:nvGrpSpPr>
        <p:grpSpPr>
          <a:xfrm>
            <a:off x="383263" y="1830676"/>
            <a:ext cx="1118556" cy="714070"/>
            <a:chOff x="164188" y="1563976"/>
            <a:chExt cx="1651956" cy="1056970"/>
          </a:xfrm>
        </p:grpSpPr>
        <p:pic>
          <p:nvPicPr>
            <p:cNvPr id="6" name="Image 53">
              <a:extLst>
                <a:ext uri="{FF2B5EF4-FFF2-40B4-BE49-F238E27FC236}">
                  <a16:creationId xmlns:a16="http://schemas.microsoft.com/office/drawing/2014/main" id="{6D220DF7-928A-9F9B-8B16-F96AE799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188" y="1563976"/>
              <a:ext cx="1056970" cy="1056970"/>
            </a:xfrm>
            <a:prstGeom prst="rect">
              <a:avLst/>
            </a:prstGeom>
          </p:spPr>
        </p:pic>
        <p:pic>
          <p:nvPicPr>
            <p:cNvPr id="8" name="Image 53">
              <a:extLst>
                <a:ext uri="{FF2B5EF4-FFF2-40B4-BE49-F238E27FC236}">
                  <a16:creationId xmlns:a16="http://schemas.microsoft.com/office/drawing/2014/main" id="{043BABC8-1E9D-2095-674A-A4089F393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174" y="1563976"/>
              <a:ext cx="1056970" cy="105697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3831FE-6401-ACCD-AC8E-722D5BE0AE0E}"/>
              </a:ext>
            </a:extLst>
          </p:cNvPr>
          <p:cNvGrpSpPr/>
          <p:nvPr/>
        </p:nvGrpSpPr>
        <p:grpSpPr>
          <a:xfrm>
            <a:off x="381045" y="3123465"/>
            <a:ext cx="1119339" cy="780745"/>
            <a:chOff x="247695" y="3275865"/>
            <a:chExt cx="1443189" cy="1056970"/>
          </a:xfrm>
        </p:grpSpPr>
        <p:pic>
          <p:nvPicPr>
            <p:cNvPr id="9" name="Image 53">
              <a:extLst>
                <a:ext uri="{FF2B5EF4-FFF2-40B4-BE49-F238E27FC236}">
                  <a16:creationId xmlns:a16="http://schemas.microsoft.com/office/drawing/2014/main" id="{E3D77C0E-7326-34A3-95C6-5EB9A8461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695" y="3275865"/>
              <a:ext cx="1056970" cy="1056970"/>
            </a:xfrm>
            <a:prstGeom prst="rect">
              <a:avLst/>
            </a:prstGeom>
          </p:spPr>
        </p:pic>
        <p:pic>
          <p:nvPicPr>
            <p:cNvPr id="10" name="Image 53">
              <a:extLst>
                <a:ext uri="{FF2B5EF4-FFF2-40B4-BE49-F238E27FC236}">
                  <a16:creationId xmlns:a16="http://schemas.microsoft.com/office/drawing/2014/main" id="{70D28B67-1AEE-A18A-D473-95EF5B6A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3914" y="3275865"/>
              <a:ext cx="1056970" cy="10569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0981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91732" y="2323782"/>
            <a:ext cx="6966591" cy="865186"/>
          </a:xfrm>
        </p:spPr>
        <p:txBody>
          <a:bodyPr/>
          <a:lstStyle/>
          <a:p>
            <a:r>
              <a:rPr lang="fr-FR" dirty="0" smtClean="0"/>
              <a:t>Et sur GCP ?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13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Pipeline RAG sur GCP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 smtClean="0"/>
              <a:t>Objet python « </a:t>
            </a:r>
            <a:r>
              <a:rPr lang="fr-FR" dirty="0" err="1" smtClean="0"/>
              <a:t>rag</a:t>
            </a:r>
            <a:r>
              <a:rPr lang="fr-FR" dirty="0" smtClean="0"/>
              <a:t> » de la librairie « </a:t>
            </a:r>
            <a:r>
              <a:rPr lang="fr-FR" dirty="0" err="1" smtClean="0"/>
              <a:t>vertexai.preview</a:t>
            </a:r>
            <a:r>
              <a:rPr lang="fr-FR" dirty="0" smtClean="0"/>
              <a:t> » qui comprend :</a:t>
            </a:r>
          </a:p>
          <a:p>
            <a:pPr lvl="1"/>
            <a:r>
              <a:rPr lang="fr-FR" dirty="0" smtClean="0"/>
              <a:t>Des méthodes pour la création de corpus</a:t>
            </a:r>
          </a:p>
          <a:p>
            <a:pPr lvl="1"/>
            <a:r>
              <a:rPr lang="fr-FR" dirty="0" smtClean="0"/>
              <a:t>Toutes les étapes de </a:t>
            </a:r>
            <a:r>
              <a:rPr lang="fr-FR" dirty="0" err="1" smtClean="0"/>
              <a:t>parsing</a:t>
            </a:r>
            <a:r>
              <a:rPr lang="fr-FR" dirty="0" smtClean="0"/>
              <a:t>, </a:t>
            </a:r>
            <a:r>
              <a:rPr lang="fr-FR" dirty="0" err="1" smtClean="0"/>
              <a:t>embedding</a:t>
            </a:r>
            <a:r>
              <a:rPr lang="fr-FR" dirty="0" smtClean="0"/>
              <a:t>, </a:t>
            </a:r>
            <a:r>
              <a:rPr lang="fr-FR" dirty="0" err="1" smtClean="0"/>
              <a:t>reranking</a:t>
            </a:r>
            <a:endParaRPr lang="fr-FR" dirty="0" smtClean="0"/>
          </a:p>
          <a:p>
            <a:pPr lvl="1"/>
            <a:r>
              <a:rPr lang="fr-FR" dirty="0" smtClean="0"/>
              <a:t>Une méthode pour être associé à un modèle d’IA </a:t>
            </a:r>
            <a:r>
              <a:rPr lang="fr-FR" dirty="0" err="1" smtClean="0"/>
              <a:t>Gen</a:t>
            </a:r>
            <a:endParaRPr lang="fr-FR" dirty="0"/>
          </a:p>
          <a:p>
            <a:pPr marL="269875" lvl="1" indent="0">
              <a:buNone/>
            </a:pPr>
            <a:endParaRPr lang="fr-FR" dirty="0"/>
          </a:p>
          <a:p>
            <a:r>
              <a:rPr lang="fr-FR" dirty="0" smtClean="0"/>
              <a:t>Paramètres :</a:t>
            </a:r>
          </a:p>
          <a:p>
            <a:pPr lvl="1"/>
            <a:r>
              <a:rPr lang="fr-FR" dirty="0" err="1"/>
              <a:t>s</a:t>
            </a:r>
            <a:r>
              <a:rPr lang="fr-FR" dirty="0" err="1" smtClean="0"/>
              <a:t>imilarity_top_k</a:t>
            </a:r>
            <a:endParaRPr lang="fr-FR" dirty="0" smtClean="0"/>
          </a:p>
          <a:p>
            <a:pPr lvl="1"/>
            <a:r>
              <a:rPr lang="fr-FR" dirty="0" err="1"/>
              <a:t>v</a:t>
            </a:r>
            <a:r>
              <a:rPr lang="fr-FR" dirty="0" err="1" smtClean="0"/>
              <a:t>ector_distance_threshold</a:t>
            </a:r>
            <a:endParaRPr lang="fr-FR" dirty="0" smtClean="0"/>
          </a:p>
          <a:p>
            <a:pPr lvl="1"/>
            <a:endParaRPr lang="fr-FR" dirty="0" smtClean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0130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 vos ordinateurs !</a:t>
            </a:r>
            <a:endParaRPr lang="fr-FR" dirty="0"/>
          </a:p>
        </p:txBody>
      </p:sp>
      <p:pic>
        <p:nvPicPr>
          <p:cNvPr id="2050" name="Picture 2" descr="👨‍💻 Informaticien Emo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383" y="1459522"/>
            <a:ext cx="4196617" cy="419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718006"/>
      </p:ext>
    </p:extLst>
  </p:cSld>
  <p:clrMapOvr>
    <a:masterClrMapping/>
  </p:clrMapOvr>
</p:sld>
</file>

<file path=ppt/theme/theme1.xml><?xml version="1.0" encoding="utf-8"?>
<a:theme xmlns:a="http://schemas.openxmlformats.org/drawingml/2006/main" name="2022_HeadMind Partners_Modèles Slides">
  <a:themeElements>
    <a:clrScheme name="HeadMind">
      <a:dk1>
        <a:srgbClr val="00263A"/>
      </a:dk1>
      <a:lt1>
        <a:srgbClr val="FFFFFF"/>
      </a:lt1>
      <a:dk2>
        <a:srgbClr val="003057"/>
      </a:dk2>
      <a:lt2>
        <a:srgbClr val="5BC2E7"/>
      </a:lt2>
      <a:accent1>
        <a:srgbClr val="0F4379"/>
      </a:accent1>
      <a:accent2>
        <a:srgbClr val="007DBA"/>
      </a:accent2>
      <a:accent3>
        <a:srgbClr val="008C32"/>
      </a:accent3>
      <a:accent4>
        <a:srgbClr val="960000"/>
      </a:accent4>
      <a:accent5>
        <a:srgbClr val="FA6432"/>
      </a:accent5>
      <a:accent6>
        <a:srgbClr val="FAC000"/>
      </a:accent6>
      <a:hlink>
        <a:srgbClr val="007DBA"/>
      </a:hlink>
      <a:folHlink>
        <a:srgbClr val="003057"/>
      </a:folHlink>
    </a:clrScheme>
    <a:fontScheme name="Polices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_16-9_AI_&amp;_Blockchain" id="{5F830302-DC05-4BFD-AAF0-EAAC38D2B61E}" vid="{F0D3F456-0B0E-4200-ADEB-E94BC30EB9C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AC2BF7-8807-484E-8CDA-A5D123E625BB}">
  <we:reference id="wa104381063" version="1.0.0.1" store="fr-FR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1709754A40D34DBA1703E9DDDF438F" ma:contentTypeVersion="13" ma:contentTypeDescription="Crée un document." ma:contentTypeScope="" ma:versionID="9a8e9a940b2d44290d8f0e3897e27c2f">
  <xsd:schema xmlns:xsd="http://www.w3.org/2001/XMLSchema" xmlns:xs="http://www.w3.org/2001/XMLSchema" xmlns:p="http://schemas.microsoft.com/office/2006/metadata/properties" xmlns:ns2="e2f9eb68-5d77-4602-9d99-0eaaa8925c8e" xmlns:ns3="93ab2efc-1084-4875-9b06-0073a3e57f15" targetNamespace="http://schemas.microsoft.com/office/2006/metadata/properties" ma:root="true" ma:fieldsID="8c4c8fb2e7a7c298573adc71028af4c1" ns2:_="" ns3:_="">
    <xsd:import namespace="e2f9eb68-5d77-4602-9d99-0eaaa8925c8e"/>
    <xsd:import namespace="93ab2efc-1084-4875-9b06-0073a3e57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personn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9eb68-5d77-4602-9d99-0eaaa8925c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ersonne" ma:index="12" nillable="true" ma:displayName="personne" ma:format="Dropdown" ma:list="UserInfo" ma:SharePointGroup="0" ma:internalName="personn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847d4884-bd92-40df-a728-716cea7b44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ab2efc-1084-4875-9b06-0073a3e57f1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80f95b5-1844-43ec-a5ce-d83caabff672}" ma:internalName="TaxCatchAll" ma:showField="CatchAllData" ma:web="93ab2efc-1084-4875-9b06-0073a3e57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f9eb68-5d77-4602-9d99-0eaaa8925c8e">
      <Terms xmlns="http://schemas.microsoft.com/office/infopath/2007/PartnerControls"/>
    </lcf76f155ced4ddcb4097134ff3c332f>
    <personne xmlns="e2f9eb68-5d77-4602-9d99-0eaaa8925c8e">
      <UserInfo>
        <DisplayName>Vakili, Anatole</DisplayName>
        <AccountId>61</AccountId>
        <AccountType/>
      </UserInfo>
    </personne>
    <TaxCatchAll xmlns="93ab2efc-1084-4875-9b06-0073a3e57f15" xsi:nil="true"/>
  </documentManagement>
</p:properties>
</file>

<file path=customXml/itemProps1.xml><?xml version="1.0" encoding="utf-8"?>
<ds:datastoreItem xmlns:ds="http://schemas.openxmlformats.org/officeDocument/2006/customXml" ds:itemID="{54F49CD1-0FBD-4E82-A041-7423227D4825}">
  <ds:schemaRefs>
    <ds:schemaRef ds:uri="93ab2efc-1084-4875-9b06-0073a3e57f15"/>
    <ds:schemaRef ds:uri="e2f9eb68-5d77-4602-9d99-0eaaa8925c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B287635-518A-478A-8857-367B37ABAF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46321F-FECF-4428-92E3-6B99C34662E3}">
  <ds:schemaRefs>
    <ds:schemaRef ds:uri="http://schemas.microsoft.com/office/2006/metadata/properties"/>
    <ds:schemaRef ds:uri="93ab2efc-1084-4875-9b06-0073a3e57f15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2f9eb68-5d77-4602-9d99-0eaaa8925c8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SELF-REFINE</Template>
  <TotalTime>9745</TotalTime>
  <Words>391</Words>
  <Application>Microsoft Office PowerPoint</Application>
  <PresentationFormat>Grand écran</PresentationFormat>
  <Paragraphs>48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1" baseType="lpstr">
      <vt:lpstr>Arial</vt:lpstr>
      <vt:lpstr>Bodoni 72 Bold</vt:lpstr>
      <vt:lpstr>Browallia New</vt:lpstr>
      <vt:lpstr>Calibri</vt:lpstr>
      <vt:lpstr>Franklin Gothic Book</vt:lpstr>
      <vt:lpstr>Segoe UI</vt:lpstr>
      <vt:lpstr>Segoe UI Semibold</vt:lpstr>
      <vt:lpstr>Wingdings</vt:lpstr>
      <vt:lpstr>2022_HeadMind Partners_Modèles Slides</vt:lpstr>
      <vt:lpstr>RAG : Retrieval Augmented Generation 17/03/2025</vt:lpstr>
      <vt:lpstr>Objectifs du RAG</vt:lpstr>
      <vt:lpstr>L’architecture RAG</vt:lpstr>
      <vt:lpstr>L’architecture RAG</vt:lpstr>
      <vt:lpstr>L’architecture RAG</vt:lpstr>
      <vt:lpstr>Construire sa base de données vectorielles</vt:lpstr>
      <vt:lpstr>Retriever : Récupération des chunks pertinents </vt:lpstr>
      <vt:lpstr>Le reranking</vt:lpstr>
      <vt:lpstr>Taille des chunks</vt:lpstr>
      <vt:lpstr>Et sur GCP ?</vt:lpstr>
      <vt:lpstr>Pipeline RAG sur GCP</vt:lpstr>
      <vt:lpstr>A vos ordinateurs !</vt:lpstr>
    </vt:vector>
  </TitlesOfParts>
  <Company>Beijaflore.com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OpenMind: Hallucination and guard railing</dc:title>
  <dc:creator>Laziamond, Ugo</dc:creator>
  <cp:lastModifiedBy>Perez, Pierre-Louis</cp:lastModifiedBy>
  <cp:revision>957</cp:revision>
  <dcterms:created xsi:type="dcterms:W3CDTF">2024-05-07T12:21:09Z</dcterms:created>
  <dcterms:modified xsi:type="dcterms:W3CDTF">2025-03-16T22:57:38Z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0x010100321709754A40D34DBA1703E9DDDF438F</vt:lpwstr>
  </property>
  <property fmtid="{D5CDD505-2E9C-101B-9397-08002B2CF9AE}" pid="3" name="MediaServiceImageTags">
    <vt:lpwstr/>
  </property>
</Properties>
</file>